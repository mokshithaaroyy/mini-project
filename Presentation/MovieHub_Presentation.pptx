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0" d="100"/>
          <a:sy n="60" d="100"/>
        </p:scale>
        <p:origin x="92" y="3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490965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C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-308344" y="64327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0" y="1143000"/>
            <a:ext cx="121889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MovieHub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457200" y="274320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i="1" dirty="0">
                <a:solidFill>
                  <a:srgbClr val="9BB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Based Movie Recommendation System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3657600" y="3429000"/>
            <a:ext cx="4873752" cy="0"/>
          </a:xfrm>
          <a:prstGeom prst="line">
            <a:avLst/>
          </a:prstGeom>
          <a:noFill/>
          <a:ln w="254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0" y="3657600"/>
            <a:ext cx="12188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kern="0" spc="300" dirty="0">
                <a:solidFill>
                  <a:srgbClr val="E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PLACEMENT  TRAINING  PROJECT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286000" y="4343400"/>
            <a:ext cx="7616952" cy="1783080"/>
          </a:xfrm>
          <a:prstGeom prst="roundRect">
            <a:avLst>
              <a:gd name="adj" fmla="val 4103"/>
            </a:avLst>
          </a:prstGeom>
          <a:solidFill>
            <a:srgbClr val="2457A4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2286000" y="4343400"/>
            <a:ext cx="7616952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Varada Mokshitha Roy  </a:t>
            </a:r>
            <a:endParaRPr lang="en-US" sz="18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9BB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Electronics and Communication Engineering</a:t>
            </a:r>
            <a:endParaRPr lang="en-US" sz="18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9BB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Annamacharya Institute of Technology and Sciences, Tirupati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3C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914400"/>
            <a:ext cx="12188952" cy="45720"/>
          </a:xfrm>
          <a:prstGeom prst="rect">
            <a:avLst/>
          </a:prstGeom>
          <a:solidFill>
            <a:srgbClr val="E8A02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457200" y="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71016"/>
            <a:ext cx="502920" cy="502920"/>
          </a:xfrm>
          <a:prstGeom prst="ellipse">
            <a:avLst/>
          </a:prstGeom>
          <a:solidFill>
            <a:srgbClr val="1A3C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457200" y="12710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97280" y="1234440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&amp; Problem Statement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57200" y="1892808"/>
            <a:ext cx="539496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457200" y="2368296"/>
            <a:ext cx="502920" cy="502920"/>
          </a:xfrm>
          <a:prstGeom prst="ellipse">
            <a:avLst/>
          </a:prstGeom>
          <a:solidFill>
            <a:srgbClr val="1A3C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457200" y="236829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97280" y="2331720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457200" y="2990088"/>
            <a:ext cx="539496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457200" y="3465576"/>
            <a:ext cx="502920" cy="502920"/>
          </a:xfrm>
          <a:prstGeom prst="ellipse">
            <a:avLst/>
          </a:prstGeom>
          <a:solidFill>
            <a:srgbClr val="1A3C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457200" y="346557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97280" y="3429000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Technologies Used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457200" y="4087368"/>
            <a:ext cx="539496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Shape 15"/>
          <p:cNvSpPr/>
          <p:nvPr/>
        </p:nvSpPr>
        <p:spPr>
          <a:xfrm>
            <a:off x="457200" y="4562856"/>
            <a:ext cx="502920" cy="502920"/>
          </a:xfrm>
          <a:prstGeom prst="ellipse">
            <a:avLst/>
          </a:prstGeom>
          <a:solidFill>
            <a:srgbClr val="1A3C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457200" y="45628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97280" y="4526280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457200" y="5184648"/>
            <a:ext cx="539496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6309360" y="1271016"/>
            <a:ext cx="502920" cy="502920"/>
          </a:xfrm>
          <a:prstGeom prst="ellipse">
            <a:avLst/>
          </a:prstGeom>
          <a:solidFill>
            <a:srgbClr val="1A3C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6309360" y="12710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949440" y="1234440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6309360" y="1892808"/>
            <a:ext cx="539496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Shape 23"/>
          <p:cNvSpPr/>
          <p:nvPr/>
        </p:nvSpPr>
        <p:spPr>
          <a:xfrm>
            <a:off x="6309360" y="2368296"/>
            <a:ext cx="502920" cy="502920"/>
          </a:xfrm>
          <a:prstGeom prst="ellipse">
            <a:avLst/>
          </a:prstGeom>
          <a:solidFill>
            <a:srgbClr val="1A3C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6309360" y="236829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949440" y="2331720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Implemented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309360" y="2990088"/>
            <a:ext cx="539496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Shape 27"/>
          <p:cNvSpPr/>
          <p:nvPr/>
        </p:nvSpPr>
        <p:spPr>
          <a:xfrm>
            <a:off x="6309360" y="3465576"/>
            <a:ext cx="502920" cy="502920"/>
          </a:xfrm>
          <a:prstGeom prst="ellipse">
            <a:avLst/>
          </a:prstGeom>
          <a:solidFill>
            <a:srgbClr val="1A3C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/>
          <p:nvPr/>
        </p:nvSpPr>
        <p:spPr>
          <a:xfrm>
            <a:off x="6309360" y="346557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949440" y="3429000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Testing</a:t>
            </a:r>
            <a:endParaRPr lang="en-US" sz="1700" dirty="0"/>
          </a:p>
        </p:txBody>
      </p:sp>
      <p:sp>
        <p:nvSpPr>
          <p:cNvPr id="32" name="Shape 30"/>
          <p:cNvSpPr/>
          <p:nvPr/>
        </p:nvSpPr>
        <p:spPr>
          <a:xfrm>
            <a:off x="6309360" y="4087368"/>
            <a:ext cx="539496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Shape 31"/>
          <p:cNvSpPr/>
          <p:nvPr/>
        </p:nvSpPr>
        <p:spPr>
          <a:xfrm>
            <a:off x="6309360" y="4562856"/>
            <a:ext cx="502920" cy="502920"/>
          </a:xfrm>
          <a:prstGeom prst="ellipse">
            <a:avLst/>
          </a:prstGeom>
          <a:solidFill>
            <a:srgbClr val="1A3C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4" name="Text 32"/>
          <p:cNvSpPr/>
          <p:nvPr/>
        </p:nvSpPr>
        <p:spPr>
          <a:xfrm>
            <a:off x="6309360" y="45628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949440" y="4526280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&amp; Future Scope</a:t>
            </a:r>
            <a:endParaRPr lang="en-US" sz="1700" dirty="0"/>
          </a:p>
        </p:txBody>
      </p:sp>
      <p:sp>
        <p:nvSpPr>
          <p:cNvPr id="36" name="Shape 34"/>
          <p:cNvSpPr/>
          <p:nvPr/>
        </p:nvSpPr>
        <p:spPr>
          <a:xfrm>
            <a:off x="6309360" y="5184648"/>
            <a:ext cx="539496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7" name="Shape 35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EAF0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8" name="Text 36"/>
          <p:cNvSpPr/>
          <p:nvPr/>
        </p:nvSpPr>
        <p:spPr>
          <a:xfrm>
            <a:off x="365760" y="65836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MovieHub  |  Placement Training Project  |  AITS Tirupati  |  ECE Dept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704320" y="658368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3C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914400"/>
            <a:ext cx="12188952" cy="45720"/>
          </a:xfrm>
          <a:prstGeom prst="rect">
            <a:avLst/>
          </a:prstGeom>
          <a:solidFill>
            <a:srgbClr val="E8A02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457200" y="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&amp; Problem Statement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3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150876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thousands of movies available across multiple languages and streaming platforms, discovering content that matches a user’s taste is genuinely difficult. MovieHub is a self-contained Django web application that combines a multilingual movie catalogue with a transparent, content-based recommendation engine built entirely in plain Python.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514600"/>
            <a:ext cx="11274552" cy="0"/>
          </a:xfrm>
          <a:prstGeom prst="line">
            <a:avLst/>
          </a:prstGeom>
          <a:noFill/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457200" y="265176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3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3063240"/>
            <a:ext cx="1127455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platforms require subscriptions or complex installations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recommendation engines use opaque ML models that users cannot inspect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lightweight option exists that covers Indian regional language films alongside international titles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transparent, explainable recommendation system is needed that works without external ML libraries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EAF0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365760" y="65836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MovieHub  |  Placement Training Project  |  AITS Tirupati  |  ECE Dept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1704320" y="658368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3C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914400"/>
            <a:ext cx="12188952" cy="45720"/>
          </a:xfrm>
          <a:prstGeom prst="rect">
            <a:avLst/>
          </a:prstGeom>
          <a:solidFill>
            <a:srgbClr val="E8A02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457200" y="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51560"/>
            <a:ext cx="11430000" cy="640080"/>
          </a:xfrm>
          <a:prstGeom prst="rect">
            <a:avLst/>
          </a:prstGeom>
          <a:solidFill>
            <a:srgbClr val="EAF0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502920" y="1170432"/>
            <a:ext cx="411480" cy="411480"/>
          </a:xfrm>
          <a:prstGeom prst="ellipse">
            <a:avLst/>
          </a:prstGeom>
          <a:solidFill>
            <a:srgbClr val="1A3C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502920" y="11704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97280" y="109728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 relational database for movies, genres, ratings, and watchlists using SQLite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02920" y="1883664"/>
            <a:ext cx="411480" cy="411480"/>
          </a:xfrm>
          <a:prstGeom prst="ellipse">
            <a:avLst/>
          </a:prstGeom>
          <a:solidFill>
            <a:srgbClr val="1A3C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502920" y="188366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97280" y="1810512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complete Django app with user registration, login, and session management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365760" y="2478024"/>
            <a:ext cx="11430000" cy="640080"/>
          </a:xfrm>
          <a:prstGeom prst="rect">
            <a:avLst/>
          </a:prstGeom>
          <a:solidFill>
            <a:srgbClr val="EAF0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502920" y="2596896"/>
            <a:ext cx="411480" cy="411480"/>
          </a:xfrm>
          <a:prstGeom prst="ellipse">
            <a:avLst/>
          </a:prstGeom>
          <a:solidFill>
            <a:srgbClr val="1A3C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502920" y="259689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97280" y="2523744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a content-based filtering algorithm in plain Python — no ML library needed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02920" y="3310128"/>
            <a:ext cx="411480" cy="411480"/>
          </a:xfrm>
          <a:prstGeom prst="ellipse">
            <a:avLst/>
          </a:prstGeom>
          <a:solidFill>
            <a:srgbClr val="1A3C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502920" y="331012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97280" y="3236976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 search and filter by genre, language, and sort options for the movie catalogue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365760" y="3904488"/>
            <a:ext cx="11430000" cy="640080"/>
          </a:xfrm>
          <a:prstGeom prst="rect">
            <a:avLst/>
          </a:prstGeom>
          <a:solidFill>
            <a:srgbClr val="EAF0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" name="Shape 18"/>
          <p:cNvSpPr/>
          <p:nvPr/>
        </p:nvSpPr>
        <p:spPr>
          <a:xfrm>
            <a:off x="502920" y="4023360"/>
            <a:ext cx="411480" cy="411480"/>
          </a:xfrm>
          <a:prstGeom prst="ellipse">
            <a:avLst/>
          </a:prstGeom>
          <a:solidFill>
            <a:srgbClr val="1A3C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502920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97280" y="3950208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 a personal watchlist and ‘Similar Movies’ section on every detail page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502920" y="4736592"/>
            <a:ext cx="411480" cy="411480"/>
          </a:xfrm>
          <a:prstGeom prst="ellipse">
            <a:avLst/>
          </a:prstGeom>
          <a:solidFill>
            <a:srgbClr val="1A3C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502920" y="47365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097280" y="466344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the Django admin panel for complete catalogue management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65760" y="5330952"/>
            <a:ext cx="11430000" cy="640080"/>
          </a:xfrm>
          <a:prstGeom prst="rect">
            <a:avLst/>
          </a:prstGeom>
          <a:solidFill>
            <a:srgbClr val="EAF0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Shape 25"/>
          <p:cNvSpPr/>
          <p:nvPr/>
        </p:nvSpPr>
        <p:spPr>
          <a:xfrm>
            <a:off x="502920" y="5449824"/>
            <a:ext cx="411480" cy="411480"/>
          </a:xfrm>
          <a:prstGeom prst="ellipse">
            <a:avLst/>
          </a:prstGeom>
          <a:solidFill>
            <a:srgbClr val="1A3C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8" name="Text 26"/>
          <p:cNvSpPr/>
          <p:nvPr/>
        </p:nvSpPr>
        <p:spPr>
          <a:xfrm>
            <a:off x="502920" y="544982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097280" y="5376672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 responsive dark-themed UI using hand-written HTML and CSS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EAF0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1" name="Text 29"/>
          <p:cNvSpPr/>
          <p:nvPr/>
        </p:nvSpPr>
        <p:spPr>
          <a:xfrm>
            <a:off x="365760" y="65836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MovieHub  |  Placement Training Project  |  AITS Tirupati  |  ECE Dept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704320" y="658368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3C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914400"/>
            <a:ext cx="12188952" cy="45720"/>
          </a:xfrm>
          <a:prstGeom prst="rect">
            <a:avLst/>
          </a:prstGeom>
          <a:solidFill>
            <a:srgbClr val="E8A02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457200" y="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Technologies Used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143000"/>
            <a:ext cx="5486400" cy="1399032"/>
          </a:xfrm>
          <a:prstGeom prst="roundRect">
            <a:avLst>
              <a:gd name="adj" fmla="val 5229"/>
            </a:avLst>
          </a:prstGeom>
          <a:solidFill>
            <a:srgbClr val="EAF0F8"/>
          </a:solidFill>
          <a:ln w="12700">
            <a:solidFill>
              <a:srgbClr val="C0D4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920240" cy="1399032"/>
          </a:xfrm>
          <a:prstGeom prst="roundRect">
            <a:avLst>
              <a:gd name="adj" fmla="val 5229"/>
            </a:avLst>
          </a:prstGeom>
          <a:solidFill>
            <a:srgbClr val="1A3C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457200" y="1143000"/>
            <a:ext cx="1920240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468880" y="1234440"/>
            <a:ext cx="338328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backend language and recommendation logic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45352" y="1143000"/>
            <a:ext cx="5486400" cy="1399032"/>
          </a:xfrm>
          <a:prstGeom prst="roundRect">
            <a:avLst>
              <a:gd name="adj" fmla="val 5229"/>
            </a:avLst>
          </a:prstGeom>
          <a:solidFill>
            <a:srgbClr val="EAF0F8"/>
          </a:solidFill>
          <a:ln w="12700">
            <a:solidFill>
              <a:srgbClr val="C0D4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6245352" y="1143000"/>
            <a:ext cx="1920240" cy="1399032"/>
          </a:xfrm>
          <a:prstGeom prst="roundRect">
            <a:avLst>
              <a:gd name="adj" fmla="val 5229"/>
            </a:avLst>
          </a:prstGeom>
          <a:solidFill>
            <a:srgbClr val="1A3C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6245352" y="1143000"/>
            <a:ext cx="1920240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257032" y="1234440"/>
            <a:ext cx="338328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framework — routing, ORM, authentication, templates, admin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57200" y="2651760"/>
            <a:ext cx="5486400" cy="1399032"/>
          </a:xfrm>
          <a:prstGeom prst="roundRect">
            <a:avLst>
              <a:gd name="adj" fmla="val 5229"/>
            </a:avLst>
          </a:prstGeom>
          <a:solidFill>
            <a:srgbClr val="EAF0F8"/>
          </a:solidFill>
          <a:ln w="12700">
            <a:solidFill>
              <a:srgbClr val="C0D4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12"/>
          <p:cNvSpPr/>
          <p:nvPr/>
        </p:nvSpPr>
        <p:spPr>
          <a:xfrm>
            <a:off x="457200" y="2651760"/>
            <a:ext cx="1920240" cy="1399032"/>
          </a:xfrm>
          <a:prstGeom prst="roundRect">
            <a:avLst>
              <a:gd name="adj" fmla="val 5229"/>
            </a:avLst>
          </a:prstGeom>
          <a:solidFill>
            <a:srgbClr val="1A3C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457200" y="2651760"/>
            <a:ext cx="1920240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2468880" y="2743200"/>
            <a:ext cx="338328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Relational database (bundled with Django, no server needed)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245352" y="2651760"/>
            <a:ext cx="5486400" cy="1399032"/>
          </a:xfrm>
          <a:prstGeom prst="roundRect">
            <a:avLst>
              <a:gd name="adj" fmla="val 5229"/>
            </a:avLst>
          </a:prstGeom>
          <a:solidFill>
            <a:srgbClr val="EAF0F8"/>
          </a:solidFill>
          <a:ln w="12700">
            <a:solidFill>
              <a:srgbClr val="C0D4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Shape 16"/>
          <p:cNvSpPr/>
          <p:nvPr/>
        </p:nvSpPr>
        <p:spPr>
          <a:xfrm>
            <a:off x="6245352" y="2651760"/>
            <a:ext cx="1920240" cy="1399032"/>
          </a:xfrm>
          <a:prstGeom prst="roundRect">
            <a:avLst>
              <a:gd name="adj" fmla="val 5229"/>
            </a:avLst>
          </a:prstGeom>
          <a:solidFill>
            <a:srgbClr val="1A3C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6245352" y="2651760"/>
            <a:ext cx="1920240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HTML5 + CSS3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257032" y="2743200"/>
            <a:ext cx="338328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Hand-written frontend — dark-themed responsive layout, no CSS framework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457200" y="4160520"/>
            <a:ext cx="5486400" cy="1399032"/>
          </a:xfrm>
          <a:prstGeom prst="roundRect">
            <a:avLst>
              <a:gd name="adj" fmla="val 5229"/>
            </a:avLst>
          </a:prstGeom>
          <a:solidFill>
            <a:srgbClr val="EAF0F8"/>
          </a:solidFill>
          <a:ln w="12700">
            <a:solidFill>
              <a:srgbClr val="C0D4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Shape 20"/>
          <p:cNvSpPr/>
          <p:nvPr/>
        </p:nvSpPr>
        <p:spPr>
          <a:xfrm>
            <a:off x="457200" y="4160520"/>
            <a:ext cx="1920240" cy="1399032"/>
          </a:xfrm>
          <a:prstGeom prst="roundRect">
            <a:avLst>
              <a:gd name="adj" fmla="val 5229"/>
            </a:avLst>
          </a:prstGeom>
          <a:solidFill>
            <a:srgbClr val="1A3C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457200" y="4160520"/>
            <a:ext cx="1920240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ORM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2468880" y="4251960"/>
            <a:ext cx="338328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access layer — models, queries, migrations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6245352" y="4160520"/>
            <a:ext cx="5486400" cy="1399032"/>
          </a:xfrm>
          <a:prstGeom prst="roundRect">
            <a:avLst>
              <a:gd name="adj" fmla="val 5229"/>
            </a:avLst>
          </a:prstGeom>
          <a:solidFill>
            <a:srgbClr val="EAF0F8"/>
          </a:solidFill>
          <a:ln w="12700">
            <a:solidFill>
              <a:srgbClr val="C0D4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6245352" y="4160520"/>
            <a:ext cx="1920240" cy="1399032"/>
          </a:xfrm>
          <a:prstGeom prst="roundRect">
            <a:avLst>
              <a:gd name="adj" fmla="val 5229"/>
            </a:avLst>
          </a:prstGeom>
          <a:solidFill>
            <a:srgbClr val="1A3C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6245352" y="4160520"/>
            <a:ext cx="1920240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DTL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8257032" y="4251960"/>
            <a:ext cx="338328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Template Language for server-side HTML rendering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457200" y="612648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ℹ  No external CSS framework, no JavaScript framework, no ML library — all features built from scratch.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EAF0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1" name="Text 29"/>
          <p:cNvSpPr/>
          <p:nvPr/>
        </p:nvSpPr>
        <p:spPr>
          <a:xfrm>
            <a:off x="365760" y="65836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MovieHub  |  Placement Training Project  |  AITS Tirupati  |  ECE Dept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704320" y="658368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3C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914400"/>
            <a:ext cx="12188952" cy="45720"/>
          </a:xfrm>
          <a:prstGeom prst="rect">
            <a:avLst/>
          </a:prstGeom>
          <a:solidFill>
            <a:srgbClr val="E8A02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457200" y="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 (MVT Pattern)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11274552" cy="749808"/>
          </a:xfrm>
          <a:prstGeom prst="roundRect">
            <a:avLst>
              <a:gd name="adj" fmla="val 7317"/>
            </a:avLst>
          </a:prstGeom>
          <a:solidFill>
            <a:srgbClr val="EAF0F8"/>
          </a:solidFill>
          <a:ln w="12700">
            <a:solidFill>
              <a:srgbClr val="C0D4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2286000" cy="749808"/>
          </a:xfrm>
          <a:prstGeom prst="roundRect">
            <a:avLst>
              <a:gd name="adj" fmla="val 7317"/>
            </a:avLst>
          </a:prstGeom>
          <a:solidFill>
            <a:srgbClr val="1A3C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457200" y="109728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880360" y="1170432"/>
            <a:ext cx="8686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sends HTTP request from any web browser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1417320" y="1847088"/>
            <a:ext cx="0" cy="118872"/>
          </a:xfrm>
          <a:prstGeom prst="line">
            <a:avLst/>
          </a:prstGeom>
          <a:noFill/>
          <a:ln w="254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457200" y="1965960"/>
            <a:ext cx="11274552" cy="749808"/>
          </a:xfrm>
          <a:prstGeom prst="roundRect">
            <a:avLst>
              <a:gd name="adj" fmla="val 7317"/>
            </a:avLst>
          </a:prstGeom>
          <a:solidFill>
            <a:srgbClr val="FFF3CD"/>
          </a:solidFill>
          <a:ln w="12700">
            <a:solidFill>
              <a:srgbClr val="F0CC7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457200" y="1965960"/>
            <a:ext cx="2286000" cy="749808"/>
          </a:xfrm>
          <a:prstGeom prst="roundRect">
            <a:avLst>
              <a:gd name="adj" fmla="val 7317"/>
            </a:avLst>
          </a:prstGeom>
          <a:solidFill>
            <a:srgbClr val="1A3C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457200" y="196596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Router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880360" y="2039112"/>
            <a:ext cx="8686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maps the URL to the correct view function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1417320" y="2715768"/>
            <a:ext cx="0" cy="118872"/>
          </a:xfrm>
          <a:prstGeom prst="line">
            <a:avLst/>
          </a:prstGeom>
          <a:noFill/>
          <a:ln w="254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457200" y="2834640"/>
            <a:ext cx="11274552" cy="749808"/>
          </a:xfrm>
          <a:prstGeom prst="roundRect">
            <a:avLst>
              <a:gd name="adj" fmla="val 7317"/>
            </a:avLst>
          </a:prstGeom>
          <a:solidFill>
            <a:srgbClr val="EAF0F8"/>
          </a:solidFill>
          <a:ln w="12700">
            <a:solidFill>
              <a:srgbClr val="C0D4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Shape 14"/>
          <p:cNvSpPr/>
          <p:nvPr/>
        </p:nvSpPr>
        <p:spPr>
          <a:xfrm>
            <a:off x="457200" y="2834640"/>
            <a:ext cx="2286000" cy="749808"/>
          </a:xfrm>
          <a:prstGeom prst="roundRect">
            <a:avLst>
              <a:gd name="adj" fmla="val 7317"/>
            </a:avLst>
          </a:prstGeom>
          <a:solidFill>
            <a:srgbClr val="1A3C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457200" y="283464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Function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880360" y="2907792"/>
            <a:ext cx="8686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Processes request, calls ORM / recommendation engine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1417320" y="3584448"/>
            <a:ext cx="0" cy="118872"/>
          </a:xfrm>
          <a:prstGeom prst="line">
            <a:avLst/>
          </a:prstGeom>
          <a:noFill/>
          <a:ln w="254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Shape 18"/>
          <p:cNvSpPr/>
          <p:nvPr/>
        </p:nvSpPr>
        <p:spPr>
          <a:xfrm>
            <a:off x="457200" y="3703320"/>
            <a:ext cx="11274552" cy="749808"/>
          </a:xfrm>
          <a:prstGeom prst="roundRect">
            <a:avLst>
              <a:gd name="adj" fmla="val 7317"/>
            </a:avLst>
          </a:prstGeom>
          <a:solidFill>
            <a:srgbClr val="FFE8CC"/>
          </a:solidFill>
          <a:ln w="12700">
            <a:solidFill>
              <a:srgbClr val="F5A02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457200" y="3703320"/>
            <a:ext cx="2286000" cy="749808"/>
          </a:xfrm>
          <a:prstGeom prst="roundRect">
            <a:avLst>
              <a:gd name="adj" fmla="val 7317"/>
            </a:avLst>
          </a:prstGeom>
          <a:solidFill>
            <a:srgbClr val="1A3C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57200" y="370332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 Engine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2880360" y="3776472"/>
            <a:ext cx="8686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recommender.py: builds taste profile, scores candidates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1417320" y="4453128"/>
            <a:ext cx="0" cy="118872"/>
          </a:xfrm>
          <a:prstGeom prst="line">
            <a:avLst/>
          </a:prstGeom>
          <a:noFill/>
          <a:ln w="254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Shape 23"/>
          <p:cNvSpPr/>
          <p:nvPr/>
        </p:nvSpPr>
        <p:spPr>
          <a:xfrm>
            <a:off x="457200" y="4572000"/>
            <a:ext cx="11274552" cy="749808"/>
          </a:xfrm>
          <a:prstGeom prst="roundRect">
            <a:avLst>
              <a:gd name="adj" fmla="val 7317"/>
            </a:avLst>
          </a:prstGeom>
          <a:solidFill>
            <a:srgbClr val="EAF0F8"/>
          </a:solidFill>
          <a:ln w="12700">
            <a:solidFill>
              <a:srgbClr val="C0D4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457200" y="4572000"/>
            <a:ext cx="2286000" cy="749808"/>
          </a:xfrm>
          <a:prstGeom prst="roundRect">
            <a:avLst>
              <a:gd name="adj" fmla="val 7317"/>
            </a:avLst>
          </a:prstGeom>
          <a:solidFill>
            <a:srgbClr val="1A3C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457200" y="457200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ORM / SQLite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2880360" y="4645152"/>
            <a:ext cx="8686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/ writes Genre, Movie, Rating, Watchlist tables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1417320" y="5321808"/>
            <a:ext cx="0" cy="118872"/>
          </a:xfrm>
          <a:prstGeom prst="line">
            <a:avLst/>
          </a:prstGeom>
          <a:noFill/>
          <a:ln w="254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Shape 28"/>
          <p:cNvSpPr/>
          <p:nvPr/>
        </p:nvSpPr>
        <p:spPr>
          <a:xfrm>
            <a:off x="457200" y="5440680"/>
            <a:ext cx="11274552" cy="749808"/>
          </a:xfrm>
          <a:prstGeom prst="roundRect">
            <a:avLst>
              <a:gd name="adj" fmla="val 7317"/>
            </a:avLst>
          </a:prstGeom>
          <a:solidFill>
            <a:srgbClr val="FFF3CD"/>
          </a:solidFill>
          <a:ln w="12700">
            <a:solidFill>
              <a:srgbClr val="F0CC7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457200" y="5440680"/>
            <a:ext cx="2286000" cy="749808"/>
          </a:xfrm>
          <a:prstGeom prst="roundRect">
            <a:avLst>
              <a:gd name="adj" fmla="val 7317"/>
            </a:avLst>
          </a:prstGeom>
          <a:solidFill>
            <a:srgbClr val="1A3C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457200" y="544068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Template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2880360" y="5513832"/>
            <a:ext cx="8686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Renders HTML; browser receives complete web page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EAF0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5" name="Text 33"/>
          <p:cNvSpPr/>
          <p:nvPr/>
        </p:nvSpPr>
        <p:spPr>
          <a:xfrm>
            <a:off x="365760" y="65836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MovieHub  |  Placement Training Project  |  AITS Tirupati  |  ECE Dept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1704320" y="658368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3C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914400"/>
            <a:ext cx="12188952" cy="45720"/>
          </a:xfrm>
          <a:prstGeom prst="rect">
            <a:avLst/>
          </a:prstGeom>
          <a:solidFill>
            <a:srgbClr val="E8A02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457200" y="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 Algorithm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3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Content-based filtering — no ML library, plain Python: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1600200"/>
            <a:ext cx="2606040" cy="2926080"/>
          </a:xfrm>
          <a:prstGeom prst="roundRect">
            <a:avLst>
              <a:gd name="adj" fmla="val 3509"/>
            </a:avLst>
          </a:prstGeom>
          <a:solidFill>
            <a:srgbClr val="EAF0F8"/>
          </a:solidFill>
          <a:ln w="12700">
            <a:solidFill>
              <a:srgbClr val="C0D4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1303020" y="1828800"/>
            <a:ext cx="731520" cy="731520"/>
          </a:xfrm>
          <a:prstGeom prst="ellipse">
            <a:avLst/>
          </a:prstGeom>
          <a:solidFill>
            <a:srgbClr val="1A3C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1303020" y="1828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02920" y="269748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A3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 liked movies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3246120"/>
            <a:ext cx="2331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movies the user rated 4 or 5 stars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3008376" y="2880360"/>
            <a:ext cx="292608" cy="292608"/>
          </a:xfrm>
          <a:prstGeom prst="rightArrow">
            <a:avLst/>
          </a:prstGeom>
          <a:solidFill>
            <a:srgbClr val="E8A02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Shape 10"/>
          <p:cNvSpPr/>
          <p:nvPr/>
        </p:nvSpPr>
        <p:spPr>
          <a:xfrm>
            <a:off x="3337560" y="1600200"/>
            <a:ext cx="2606040" cy="2926080"/>
          </a:xfrm>
          <a:prstGeom prst="roundRect">
            <a:avLst>
              <a:gd name="adj" fmla="val 3509"/>
            </a:avLst>
          </a:prstGeom>
          <a:solidFill>
            <a:srgbClr val="EAF0F8"/>
          </a:solidFill>
          <a:ln w="12700">
            <a:solidFill>
              <a:srgbClr val="C0D4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4274820" y="1828800"/>
            <a:ext cx="731520" cy="731520"/>
          </a:xfrm>
          <a:prstGeom prst="ellipse">
            <a:avLst/>
          </a:prstGeom>
          <a:solidFill>
            <a:srgbClr val="1A3C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4274820" y="1828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3474720" y="269748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A3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taste profile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474720" y="3246120"/>
            <a:ext cx="2331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how often each genre appears in those movies — more appearances = higher weight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980176" y="2880360"/>
            <a:ext cx="292608" cy="292608"/>
          </a:xfrm>
          <a:prstGeom prst="rightArrow">
            <a:avLst/>
          </a:prstGeom>
          <a:solidFill>
            <a:srgbClr val="E8A02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Shape 16"/>
          <p:cNvSpPr/>
          <p:nvPr/>
        </p:nvSpPr>
        <p:spPr>
          <a:xfrm>
            <a:off x="6309360" y="1600200"/>
            <a:ext cx="2606040" cy="2926080"/>
          </a:xfrm>
          <a:prstGeom prst="roundRect">
            <a:avLst>
              <a:gd name="adj" fmla="val 3509"/>
            </a:avLst>
          </a:prstGeom>
          <a:solidFill>
            <a:srgbClr val="EAF0F8"/>
          </a:solidFill>
          <a:ln w="12700">
            <a:solidFill>
              <a:srgbClr val="C0D4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Shape 17"/>
          <p:cNvSpPr/>
          <p:nvPr/>
        </p:nvSpPr>
        <p:spPr>
          <a:xfrm>
            <a:off x="7246620" y="1828800"/>
            <a:ext cx="731520" cy="731520"/>
          </a:xfrm>
          <a:prstGeom prst="ellipse">
            <a:avLst/>
          </a:prstGeom>
          <a:solidFill>
            <a:srgbClr val="1A3C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7246620" y="1828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6446520" y="269748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A3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candidates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446520" y="3246120"/>
            <a:ext cx="2331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 unrated movie, add up the weights of its genres from the taste profile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8951976" y="2880360"/>
            <a:ext cx="292608" cy="292608"/>
          </a:xfrm>
          <a:prstGeom prst="rightArrow">
            <a:avLst/>
          </a:prstGeom>
          <a:solidFill>
            <a:srgbClr val="E8A02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Shape 22"/>
          <p:cNvSpPr/>
          <p:nvPr/>
        </p:nvSpPr>
        <p:spPr>
          <a:xfrm>
            <a:off x="9281160" y="1600200"/>
            <a:ext cx="2606040" cy="2926080"/>
          </a:xfrm>
          <a:prstGeom prst="roundRect">
            <a:avLst>
              <a:gd name="adj" fmla="val 3509"/>
            </a:avLst>
          </a:prstGeom>
          <a:solidFill>
            <a:srgbClr val="EAF0F8"/>
          </a:solidFill>
          <a:ln w="12700">
            <a:solidFill>
              <a:srgbClr val="C0D4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Shape 23"/>
          <p:cNvSpPr/>
          <p:nvPr/>
        </p:nvSpPr>
        <p:spPr>
          <a:xfrm>
            <a:off x="10218420" y="1828800"/>
            <a:ext cx="731520" cy="731520"/>
          </a:xfrm>
          <a:prstGeom prst="ellipse">
            <a:avLst/>
          </a:prstGeom>
          <a:solidFill>
            <a:srgbClr val="1A3C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10218420" y="1828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9418320" y="269748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A3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&amp; return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9418320" y="3246120"/>
            <a:ext cx="2331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by score (ties broken by average community rating) and return top-N results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457200" y="475488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user (no ratings yet) → Shows top-rated movies from the full catalogue as a starting point.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457200" y="5166360"/>
            <a:ext cx="11274552" cy="1188720"/>
          </a:xfrm>
          <a:prstGeom prst="roundRect">
            <a:avLst>
              <a:gd name="adj" fmla="val 4615"/>
            </a:avLst>
          </a:prstGeom>
          <a:solidFill>
            <a:srgbClr val="1E1E1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1" name="Text 29"/>
          <p:cNvSpPr/>
          <p:nvPr/>
        </p:nvSpPr>
        <p:spPr>
          <a:xfrm>
            <a:off x="731520" y="525780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taste_profile = Counter()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movie in liked_movies: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genre in movie.genres.all():   taste_profile[genre.id] += 1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EAF0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3" name="Text 31"/>
          <p:cNvSpPr/>
          <p:nvPr/>
        </p:nvSpPr>
        <p:spPr>
          <a:xfrm>
            <a:off x="365760" y="65836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MovieHub  |  Placement Training Project  |  AITS Tirupati  |  ECE Dept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1704320" y="658368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3C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914400"/>
            <a:ext cx="12188952" cy="45720"/>
          </a:xfrm>
          <a:prstGeom prst="rect">
            <a:avLst/>
          </a:prstGeom>
          <a:solidFill>
            <a:srgbClr val="E8A02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457200" y="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Implemented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143000"/>
            <a:ext cx="5394960" cy="1207008"/>
          </a:xfrm>
          <a:prstGeom prst="roundRect">
            <a:avLst>
              <a:gd name="adj" fmla="val 5303"/>
            </a:avLst>
          </a:prstGeom>
          <a:solidFill>
            <a:srgbClr val="EAF0F8"/>
          </a:solidFill>
          <a:ln w="12700">
            <a:solidFill>
              <a:srgbClr val="C0D4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566928" y="123444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🎬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143000" y="123444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3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Movie Catalogue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143000" y="1600200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 movies, 10 languages, 12 genres in a responsive card grid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336792" y="1143000"/>
            <a:ext cx="5394960" cy="1207008"/>
          </a:xfrm>
          <a:prstGeom prst="roundRect">
            <a:avLst>
              <a:gd name="adj" fmla="val 5303"/>
            </a:avLst>
          </a:prstGeom>
          <a:solidFill>
            <a:srgbClr val="EAF0F8"/>
          </a:solidFill>
          <a:ln w="12700">
            <a:solidFill>
              <a:srgbClr val="C0D4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6446520" y="123444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022592" y="123444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3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&amp; Filter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022592" y="1600200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by genre / language, sort by rating, year or title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457200" y="2441448"/>
            <a:ext cx="5394960" cy="1207008"/>
          </a:xfrm>
          <a:prstGeom prst="roundRect">
            <a:avLst>
              <a:gd name="adj" fmla="val 5303"/>
            </a:avLst>
          </a:prstGeom>
          <a:solidFill>
            <a:srgbClr val="FFFFFF"/>
          </a:solidFill>
          <a:ln w="12700">
            <a:solidFill>
              <a:srgbClr val="C0D4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566928" y="2532888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⭐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143000" y="2532888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3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Rating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143000" y="2898648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1–5 stars, update anytime, live average shown on cards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336792" y="2441448"/>
            <a:ext cx="5394960" cy="1207008"/>
          </a:xfrm>
          <a:prstGeom prst="roundRect">
            <a:avLst>
              <a:gd name="adj" fmla="val 5303"/>
            </a:avLst>
          </a:prstGeom>
          <a:solidFill>
            <a:srgbClr val="FFFFFF"/>
          </a:solidFill>
          <a:ln w="12700">
            <a:solidFill>
              <a:srgbClr val="C0D4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6446520" y="2532888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022592" y="2532888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3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Watchlist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022592" y="2898648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/ remove in one click, saved in database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457200" y="3739896"/>
            <a:ext cx="5394960" cy="1207008"/>
          </a:xfrm>
          <a:prstGeom prst="roundRect">
            <a:avLst>
              <a:gd name="adj" fmla="val 5303"/>
            </a:avLst>
          </a:prstGeom>
          <a:solidFill>
            <a:srgbClr val="EAF0F8"/>
          </a:solidFill>
          <a:ln w="12700">
            <a:solidFill>
              <a:srgbClr val="C0D4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566928" y="3831336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1143000" y="3831336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3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Recommendations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143000" y="41970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Personalized ‘For You’ page using content-based filtering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6336792" y="3739896"/>
            <a:ext cx="5394960" cy="1207008"/>
          </a:xfrm>
          <a:prstGeom prst="roundRect">
            <a:avLst>
              <a:gd name="adj" fmla="val 5303"/>
            </a:avLst>
          </a:prstGeom>
          <a:solidFill>
            <a:srgbClr val="EAF0F8"/>
          </a:solidFill>
          <a:ln w="12700">
            <a:solidFill>
              <a:srgbClr val="C0D4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6446520" y="3831336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7022592" y="3831336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3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 Movies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7022592" y="41970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Genre-overlap-based suggestions on every detail page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457200" y="5038344"/>
            <a:ext cx="5394960" cy="1207008"/>
          </a:xfrm>
          <a:prstGeom prst="roundRect">
            <a:avLst>
              <a:gd name="adj" fmla="val 5303"/>
            </a:avLst>
          </a:prstGeom>
          <a:solidFill>
            <a:srgbClr val="FFFFFF"/>
          </a:solidFill>
          <a:ln w="12700">
            <a:solidFill>
              <a:srgbClr val="C0D4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/>
          <p:nvPr/>
        </p:nvSpPr>
        <p:spPr>
          <a:xfrm>
            <a:off x="566928" y="5129784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👤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1143000" y="5129784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3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1143000" y="5495544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Register, login, logout via Django’s built-in auth system</a:t>
            </a:r>
            <a:endParaRPr lang="en-US" sz="1350" dirty="0"/>
          </a:p>
        </p:txBody>
      </p:sp>
      <p:sp>
        <p:nvSpPr>
          <p:cNvPr id="33" name="Shape 31"/>
          <p:cNvSpPr/>
          <p:nvPr/>
        </p:nvSpPr>
        <p:spPr>
          <a:xfrm>
            <a:off x="6336792" y="5038344"/>
            <a:ext cx="5394960" cy="1207008"/>
          </a:xfrm>
          <a:prstGeom prst="roundRect">
            <a:avLst>
              <a:gd name="adj" fmla="val 5303"/>
            </a:avLst>
          </a:prstGeom>
          <a:solidFill>
            <a:srgbClr val="FFFFFF"/>
          </a:solidFill>
          <a:ln w="12700">
            <a:solidFill>
              <a:srgbClr val="C0D4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Text 32"/>
          <p:cNvSpPr/>
          <p:nvPr/>
        </p:nvSpPr>
        <p:spPr>
          <a:xfrm>
            <a:off x="6446520" y="5129784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🛠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7022592" y="5129784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3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Panel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7022592" y="5495544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catalogue management via Django admin — no custom code needed</a:t>
            </a:r>
            <a:endParaRPr lang="en-US" sz="1350" dirty="0"/>
          </a:p>
        </p:txBody>
      </p:sp>
      <p:sp>
        <p:nvSpPr>
          <p:cNvPr id="37" name="Shape 35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EAF0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8" name="Text 36"/>
          <p:cNvSpPr/>
          <p:nvPr/>
        </p:nvSpPr>
        <p:spPr>
          <a:xfrm>
            <a:off x="365760" y="65836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MovieHub  |  Placement Training Project  |  AITS Tirupati  |  ECE Dept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704320" y="658368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3C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914400"/>
            <a:ext cx="12188952" cy="45720"/>
          </a:xfrm>
          <a:prstGeom prst="rect">
            <a:avLst/>
          </a:prstGeom>
          <a:solidFill>
            <a:srgbClr val="E8A02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457200" y="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Testing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2377440" cy="5212080"/>
          </a:xfrm>
          <a:prstGeom prst="roundRect">
            <a:avLst>
              <a:gd name="adj" fmla="val 3846"/>
            </a:avLst>
          </a:prstGeom>
          <a:solidFill>
            <a:srgbClr val="1A3C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E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5200" dirty="0"/>
          </a:p>
        </p:txBody>
      </p:sp>
      <p:sp>
        <p:nvSpPr>
          <p:cNvPr id="7" name="Shape 5"/>
          <p:cNvSpPr/>
          <p:nvPr/>
        </p:nvSpPr>
        <p:spPr>
          <a:xfrm>
            <a:off x="731520" y="2834640"/>
            <a:ext cx="1645920" cy="0"/>
          </a:xfrm>
          <a:prstGeom prst="line">
            <a:avLst/>
          </a:prstGeom>
          <a:noFill/>
          <a:ln w="254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65760" y="292608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5200" dirty="0"/>
          </a:p>
        </p:txBody>
      </p:sp>
      <p:sp>
        <p:nvSpPr>
          <p:cNvPr id="9" name="Text 7"/>
          <p:cNvSpPr/>
          <p:nvPr/>
        </p:nvSpPr>
        <p:spPr>
          <a:xfrm>
            <a:off x="365760" y="411480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Cases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65760" y="50292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PASSED ✓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926080" y="1106424"/>
            <a:ext cx="4480560" cy="621792"/>
          </a:xfrm>
          <a:prstGeom prst="rect">
            <a:avLst/>
          </a:prstGeom>
          <a:solidFill>
            <a:srgbClr val="EAF0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Shape 10"/>
          <p:cNvSpPr/>
          <p:nvPr/>
        </p:nvSpPr>
        <p:spPr>
          <a:xfrm>
            <a:off x="2926080" y="2478024"/>
            <a:ext cx="4480560" cy="621792"/>
          </a:xfrm>
          <a:prstGeom prst="rect">
            <a:avLst/>
          </a:prstGeom>
          <a:solidFill>
            <a:srgbClr val="EAF0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2926080" y="3849624"/>
            <a:ext cx="4480560" cy="621792"/>
          </a:xfrm>
          <a:prstGeom prst="rect">
            <a:avLst/>
          </a:prstGeom>
          <a:solidFill>
            <a:srgbClr val="EAF0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Shape 12"/>
          <p:cNvSpPr/>
          <p:nvPr/>
        </p:nvSpPr>
        <p:spPr>
          <a:xfrm>
            <a:off x="7680960" y="1106424"/>
            <a:ext cx="4480560" cy="621792"/>
          </a:xfrm>
          <a:prstGeom prst="rect">
            <a:avLst/>
          </a:prstGeom>
          <a:solidFill>
            <a:srgbClr val="EAF0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7680960" y="2478024"/>
            <a:ext cx="4480560" cy="621792"/>
          </a:xfrm>
          <a:prstGeom prst="rect">
            <a:avLst/>
          </a:prstGeom>
          <a:solidFill>
            <a:srgbClr val="EAF0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Shape 14"/>
          <p:cNvSpPr/>
          <p:nvPr/>
        </p:nvSpPr>
        <p:spPr>
          <a:xfrm>
            <a:off x="7680960" y="3849624"/>
            <a:ext cx="4480560" cy="621792"/>
          </a:xfrm>
          <a:prstGeom prst="rect">
            <a:avLst/>
          </a:prstGeom>
          <a:solidFill>
            <a:srgbClr val="EAF0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3035808" y="1143000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page loads for anonymous visitor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537960" y="1143000"/>
            <a:ext cx="731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7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3035808" y="1828800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by title and director name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537960" y="1828800"/>
            <a:ext cx="731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7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3035808" y="2514600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movies by language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537960" y="2514600"/>
            <a:ext cx="731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7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3035808" y="3200400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movies by genre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6537960" y="3200400"/>
            <a:ext cx="731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7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3035808" y="3886200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registration creates account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537960" y="3886200"/>
            <a:ext cx="731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7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3035808" y="4572000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a star rating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6537960" y="4572000"/>
            <a:ext cx="731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7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790688" y="1143000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rating (no duplicate row)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11292840" y="1143000"/>
            <a:ext cx="731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7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7790688" y="1828800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movie to watchlist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11292840" y="1828800"/>
            <a:ext cx="731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7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7790688" y="2514600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a movie from watchlist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11292840" y="2514600"/>
            <a:ext cx="731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7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7790688" y="3200400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Recommendations match genre preferences</a:t>
            </a:r>
            <a:endParaRPr lang="en-US" sz="1350" dirty="0"/>
          </a:p>
        </p:txBody>
      </p:sp>
      <p:sp>
        <p:nvSpPr>
          <p:cNvPr id="36" name="Text 34"/>
          <p:cNvSpPr/>
          <p:nvPr/>
        </p:nvSpPr>
        <p:spPr>
          <a:xfrm>
            <a:off x="11292840" y="3200400"/>
            <a:ext cx="731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7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7790688" y="3886200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404 for non-existent movie ID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11292840" y="3886200"/>
            <a:ext cx="731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7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7790688" y="4572000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panel: add and edit movies</a:t>
            </a:r>
            <a:endParaRPr lang="en-US" sz="1350" dirty="0"/>
          </a:p>
        </p:txBody>
      </p:sp>
      <p:sp>
        <p:nvSpPr>
          <p:cNvPr id="40" name="Text 38"/>
          <p:cNvSpPr/>
          <p:nvPr/>
        </p:nvSpPr>
        <p:spPr>
          <a:xfrm>
            <a:off x="11292840" y="4572000"/>
            <a:ext cx="731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7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EAF0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2" name="Text 40"/>
          <p:cNvSpPr/>
          <p:nvPr/>
        </p:nvSpPr>
        <p:spPr>
          <a:xfrm>
            <a:off x="365760" y="65836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MovieHub  |  Placement Training Project  |  AITS Tirupati  |  ECE Dept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11704320" y="658368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3C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914400"/>
            <a:ext cx="12188952" cy="45720"/>
          </a:xfrm>
          <a:prstGeom prst="rect">
            <a:avLst/>
          </a:prstGeom>
          <a:solidFill>
            <a:srgbClr val="E8A02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457200" y="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&amp; Future Scope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11274552" cy="1371600"/>
          </a:xfrm>
          <a:prstGeom prst="roundRect">
            <a:avLst>
              <a:gd name="adj" fmla="val 5333"/>
            </a:avLst>
          </a:prstGeom>
          <a:solidFill>
            <a:srgbClr val="EAF0F8"/>
          </a:solidFill>
          <a:ln w="12700">
            <a:solidFill>
              <a:srgbClr val="C0D4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1645920" cy="1371600"/>
          </a:xfrm>
          <a:prstGeom prst="roundRect">
            <a:avLst>
              <a:gd name="adj" fmla="val 5333"/>
            </a:avLst>
          </a:prstGeom>
          <a:solidFill>
            <a:srgbClr val="1A3C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457200" y="1097280"/>
            <a:ext cx="1645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286000" y="1170432"/>
            <a:ext cx="9235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MovieHub is a fully functional web-based movie recommendation system built using Python, Django, HTML, CSS, and SQLite. It delivers a multilingual catalogue, search and filter, star ratings, watchlist management, and a content-based recommendation engine implemented in plain Python without any external ML library. All 12 planned test cases passed and all project objectives were met.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57200" y="269748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3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Scope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457200" y="3108960"/>
            <a:ext cx="11274552" cy="0"/>
          </a:xfrm>
          <a:prstGeom prst="line">
            <a:avLst/>
          </a:prstGeom>
          <a:noFill/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457200" y="3200400"/>
            <a:ext cx="55778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Collaborative filtering using ratings from multiple users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Movie poster images via an external database API (e.g. TMDb)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deployment with PostgreSQL and Gunicorn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217920" y="3200400"/>
            <a:ext cx="5486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 to support a companion mobile application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natural language movie search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review and comment system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3200400" y="5897880"/>
            <a:ext cx="5788152" cy="548640"/>
          </a:xfrm>
          <a:prstGeom prst="roundRect">
            <a:avLst>
              <a:gd name="adj" fmla="val 10000"/>
            </a:avLst>
          </a:prstGeom>
          <a:solidFill>
            <a:srgbClr val="1A3C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3200400" y="5897880"/>
            <a:ext cx="5788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V. Mokshitha Roy |  ECE  |  AITS Tirupati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EAF0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365760" y="65836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MovieHub  |  Placement Training Project  |  AITS Tirupati  |  ECE Dept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704320" y="658368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983</Words>
  <Application>Microsoft Office PowerPoint</Application>
  <PresentationFormat>Widescreen</PresentationFormat>
  <Paragraphs>185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MovieHub – Movie Recommendation System</dc:title>
  <dc:subject>PptxGenJS Presentation</dc:subject>
  <dc:creator>V. Mokshitha Roy, B. Nandhini, P. Neha</dc:creator>
  <cp:lastModifiedBy>Mokshitha Roy</cp:lastModifiedBy>
  <cp:revision>2</cp:revision>
  <dcterms:created xsi:type="dcterms:W3CDTF">2026-06-22T06:37:19Z</dcterms:created>
  <dcterms:modified xsi:type="dcterms:W3CDTF">2026-06-23T06:12:07Z</dcterms:modified>
</cp:coreProperties>
</file>